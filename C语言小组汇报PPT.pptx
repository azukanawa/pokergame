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3"/>
    <p:sldId id="259" r:id="rId4"/>
    <p:sldId id="260" r:id="rId5"/>
    <p:sldId id="261" r:id="rId6"/>
    <p:sldId id="262" r:id="rId7"/>
    <p:sldId id="257" r:id="rId8"/>
    <p:sldId id="258" r:id="rId9"/>
    <p:sldId id="264" r:id="rId10"/>
    <p:sldId id="265" r:id="rId11"/>
    <p:sldId id="266" r:id="rId13"/>
    <p:sldId id="267" r:id="rId14"/>
    <p:sldId id="268" r:id="rId15"/>
    <p:sldId id="269" r:id="rId16"/>
    <p:sldId id="271" r:id="rId17"/>
    <p:sldId id="272" r:id="rId18"/>
    <p:sldId id="279" r:id="rId19"/>
    <p:sldId id="280" r:id="rId20"/>
    <p:sldId id="273" r:id="rId21"/>
    <p:sldId id="274" r:id="rId22"/>
    <p:sldId id="277" r:id="rId23"/>
    <p:sldId id="275" r:id="rId24"/>
    <p:sldId id="276" r:id="rId25"/>
    <p:sldId id="278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51" y="134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757363"/>
            <a:ext cx="9144000" cy="2387600"/>
          </a:xfrm>
        </p:spPr>
        <p:txBody>
          <a:bodyPr/>
          <a:lstStyle/>
          <a:p>
            <a:r>
              <a:rPr lang="zh-CN" altLang="en-US" sz="7200" b="1" dirty="0">
                <a:latin typeface="黑体" panose="02010609060101010101" charset="-122"/>
                <a:ea typeface="黑体" panose="02010609060101010101" charset="-122"/>
              </a:rPr>
              <a:t>扑克游戏</a:t>
            </a:r>
            <a:endParaRPr lang="zh-CN" altLang="en-US" sz="7200" b="1" dirty="0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规则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1676400" y="239649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/>
              <a:t>给每个玩家发五张牌，主要通过比较牌型大小判断胜负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规则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70885" y="2438400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/>
              <a:t>Q</a:t>
            </a:r>
            <a:r>
              <a:rPr lang="zh-CN" altLang="en-US"/>
              <a:t>：牌型相同怎么办？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/>
              <a:t>A</a:t>
            </a:r>
            <a:r>
              <a:rPr lang="zh-CN" altLang="en-US"/>
              <a:t>：比最大关键牌的点数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规则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931160" y="238887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>
                <a:sym typeface="+mn-ea"/>
              </a:rPr>
              <a:t>Q</a:t>
            </a:r>
            <a:r>
              <a:rPr lang="zh-CN" altLang="en-US">
                <a:sym typeface="+mn-ea"/>
              </a:rPr>
              <a:t>：什么是关键牌？</a:t>
            </a:r>
            <a:endParaRPr lang="zh-CN" altLang="en-US">
              <a:sym typeface="+mn-ea"/>
            </a:endParaRPr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>
                <a:sym typeface="+mn-ea"/>
              </a:rPr>
              <a:t>A</a:t>
            </a:r>
            <a:r>
              <a:rPr lang="zh-CN" altLang="en-US">
                <a:sym typeface="+mn-ea"/>
              </a:rPr>
              <a:t>：让牌型名副其实的牌</a:t>
            </a:r>
            <a:endParaRPr lang="zh-CN" altLang="en-US"/>
          </a:p>
          <a:p>
            <a:pPr marL="0" indent="0">
              <a:buNone/>
            </a:pPr>
            <a:r>
              <a:rPr lang="zh-CN" altLang="en-US">
                <a:sym typeface="+mn-ea"/>
              </a:rPr>
              <a:t>举例：三张和三带二就是那三张相同点数的牌的一张，</a:t>
            </a:r>
            <a:endParaRPr lang="zh-CN" altLang="en-US"/>
          </a:p>
          <a:p>
            <a:pPr marL="0" indent="0">
              <a:buNone/>
            </a:pPr>
            <a:r>
              <a:rPr lang="zh-CN" altLang="en-US">
                <a:sym typeface="+mn-ea"/>
              </a:rPr>
              <a:t>对子和两对就是对子中点数大的那张，</a:t>
            </a:r>
            <a:endParaRPr lang="zh-CN" altLang="en-US"/>
          </a:p>
          <a:p>
            <a:pPr marL="0" indent="0">
              <a:buNone/>
            </a:pPr>
            <a:r>
              <a:rPr lang="zh-CN" altLang="en-US">
                <a:sym typeface="+mn-ea"/>
              </a:rPr>
              <a:t>炸弹为四张相同点数的牌中的一张，等等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规则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757170" y="2901315"/>
            <a:ext cx="10140950" cy="2063750"/>
          </a:xfrm>
        </p:spPr>
        <p:txBody>
          <a:bodyPr/>
          <a:lstStyle/>
          <a:p>
            <a:pPr marL="0" indent="0">
              <a:buNone/>
            </a:pPr>
            <a:r>
              <a:rPr lang="en-US" altLang="zh-CN">
                <a:sym typeface="+mn-ea"/>
              </a:rPr>
              <a:t>Q</a:t>
            </a:r>
            <a:r>
              <a:rPr lang="zh-CN" altLang="en-US">
                <a:sym typeface="+mn-ea"/>
              </a:rPr>
              <a:t>：关键牌点数也相同怎么办？</a:t>
            </a:r>
            <a:endParaRPr lang="zh-CN" altLang="en-US">
              <a:sym typeface="+mn-ea"/>
            </a:endParaRPr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en-US" altLang="zh-CN">
                <a:sym typeface="+mn-ea"/>
              </a:rPr>
              <a:t>A</a:t>
            </a:r>
            <a:r>
              <a:rPr lang="zh-CN" altLang="en-US">
                <a:sym typeface="+mn-ea"/>
              </a:rPr>
              <a:t>：比最大</a:t>
            </a:r>
            <a:r>
              <a:rPr lang="zh-CN" altLang="en-US">
                <a:sym typeface="+mn-ea"/>
              </a:rPr>
              <a:t>关键牌的花色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黑体" panose="02010609060101010101" charset="-122"/>
                <a:ea typeface="黑体" panose="02010609060101010101" charset="-122"/>
              </a:rPr>
              <a:t>需求分析</a:t>
            </a:r>
            <a:endParaRPr lang="zh-CN" altLang="en-US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34340" y="1825625"/>
            <a:ext cx="11229340" cy="4351655"/>
          </a:xfrm>
        </p:spPr>
        <p:txBody>
          <a:bodyPr>
            <a:normAutofit lnSpcReduction="10000"/>
          </a:bodyPr>
          <a:lstStyle/>
          <a:p>
            <a:r>
              <a:rPr lang="en-US" altLang="zh-CN"/>
              <a:t>a)</a:t>
            </a:r>
            <a:r>
              <a:rPr lang="zh-CN" altLang="en-US"/>
              <a:t>实现洗牌，发牌功能，发出五张扑克牌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表示与存储要发出去的扑克牌</a:t>
            </a:r>
            <a:r>
              <a:rPr lang="en-US" altLang="zh-CN"/>
              <a:t> ----&gt; </a:t>
            </a:r>
            <a:r>
              <a:rPr lang="en-US"/>
              <a:t>52</a:t>
            </a:r>
            <a:r>
              <a:rPr lang="zh-CN" altLang="en-US"/>
              <a:t>张牌大小的数组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随机发牌</a:t>
            </a:r>
            <a:r>
              <a:rPr lang="en-US" altLang="zh-CN"/>
              <a:t> ----&gt; </a:t>
            </a:r>
            <a:r>
              <a:rPr lang="zh-CN" altLang="en-US"/>
              <a:t>保证随机性的发牌算法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存储玩家的手牌</a:t>
            </a:r>
            <a:r>
              <a:rPr lang="en-US" altLang="zh-CN"/>
              <a:t>  ----&gt; </a:t>
            </a:r>
            <a:r>
              <a:rPr lang="zh-CN" altLang="en-US"/>
              <a:t>玩家数量大小</a:t>
            </a:r>
            <a:r>
              <a:rPr lang="en-US" altLang="zh-CN"/>
              <a:t> * </a:t>
            </a:r>
            <a:r>
              <a:rPr lang="zh-CN" altLang="en-US"/>
              <a:t>每个玩家卡牌数的二维数组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latin typeface="黑体" panose="02010609060101010101" charset="-122"/>
                <a:ea typeface="黑体" panose="02010609060101010101" charset="-122"/>
                <a:sym typeface="+mn-ea"/>
              </a:rPr>
              <a:t>需求分析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b)</a:t>
            </a:r>
            <a:r>
              <a:rPr lang="zh-CN" altLang="en-US"/>
              <a:t>实现玩家牌的分析功能，给出分析结果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用一个什么东西记录每个玩家的牌型、关键牌、最大</a:t>
            </a:r>
            <a:r>
              <a:rPr lang="zh-CN" altLang="en-US"/>
              <a:t>关键牌花色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比较值的大小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我们的做法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/>
              <a:t>1.</a:t>
            </a:r>
            <a:r>
              <a:rPr lang="zh-CN" altLang="en-US"/>
              <a:t>扑克牌的表示：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一个三位数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百位和十位表示点数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个位表示花色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如：</a:t>
            </a:r>
            <a:r>
              <a:rPr lang="en-US" altLang="zh-CN"/>
              <a:t>114</a:t>
            </a:r>
            <a:r>
              <a:rPr lang="zh-CN" altLang="en-US"/>
              <a:t>在本程序中表示黑桃</a:t>
            </a:r>
            <a:r>
              <a:rPr lang="en-US" altLang="zh-CN"/>
              <a:t>J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我们的做法</a:t>
            </a:r>
            <a:endParaRPr lang="zh-CN" altLang="en-US"/>
          </a:p>
        </p:txBody>
      </p:sp>
      <p:pic>
        <p:nvPicPr>
          <p:cNvPr id="4" name="内容占位符 3"/>
          <p:cNvPicPr>
            <a:picLocks noGrp="1"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0" y="1343660"/>
            <a:ext cx="12245975" cy="533971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我们的做法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zh-CN">
                <a:sym typeface="+mn-ea"/>
              </a:rPr>
              <a:t>2.</a:t>
            </a:r>
            <a:r>
              <a:rPr lang="zh-CN" altLang="en-US">
                <a:sym typeface="+mn-ea"/>
              </a:rPr>
              <a:t>随机发牌</a:t>
            </a:r>
            <a:endParaRPr lang="zh-CN" altLang="en-US">
              <a:sym typeface="+mn-ea"/>
            </a:endParaRPr>
          </a:p>
          <a:p>
            <a:pPr marL="0" indent="0">
              <a:buNone/>
            </a:pPr>
            <a:r>
              <a:rPr lang="zh-CN" altLang="en-US" b="1">
                <a:sym typeface="+mn-ea"/>
              </a:rPr>
              <a:t>模拟</a:t>
            </a:r>
            <a:endParaRPr lang="zh-CN" altLang="en-US" b="1">
              <a:sym typeface="+mn-ea"/>
            </a:endParaRPr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思路</a:t>
            </a:r>
            <a:r>
              <a:rPr lang="en-US" altLang="zh-CN"/>
              <a:t>1</a:t>
            </a:r>
            <a:r>
              <a:rPr lang="zh-CN" altLang="en-US"/>
              <a:t>：赌场发牌式模拟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洗牌</a:t>
            </a:r>
            <a:r>
              <a:rPr lang="en-US" altLang="zh-CN"/>
              <a:t> ----&gt; </a:t>
            </a:r>
            <a:r>
              <a:rPr lang="zh-CN" altLang="en-US"/>
              <a:t>发牌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思路</a:t>
            </a:r>
            <a:r>
              <a:rPr lang="en-US" altLang="zh-CN"/>
              <a:t>2</a:t>
            </a:r>
            <a:r>
              <a:rPr lang="zh-CN" altLang="en-US"/>
              <a:t>：魔术师表演式模拟</a:t>
            </a:r>
            <a:endParaRPr lang="zh-CN" altLang="en-US"/>
          </a:p>
          <a:p>
            <a:pPr marL="0" indent="0">
              <a:buNone/>
            </a:pPr>
            <a:r>
              <a:rPr lang="zh-CN" altLang="en-US"/>
              <a:t>随机一个</a:t>
            </a:r>
            <a:r>
              <a:rPr lang="en-US" altLang="zh-CN" b="1"/>
              <a:t>1</a:t>
            </a:r>
            <a:r>
              <a:rPr lang="zh-CN" altLang="en-US" b="1"/>
              <a:t>到剩余牌数</a:t>
            </a:r>
            <a:r>
              <a:rPr lang="zh-CN" altLang="en-US"/>
              <a:t>的随机数</a:t>
            </a:r>
            <a:r>
              <a:rPr lang="en-US" altLang="zh-CN"/>
              <a:t>(</a:t>
            </a:r>
            <a:r>
              <a:rPr lang="zh-CN" altLang="en-US"/>
              <a:t>记为</a:t>
            </a:r>
            <a:r>
              <a:rPr lang="en-US" altLang="zh-CN"/>
              <a:t>i)  ----&gt; </a:t>
            </a:r>
            <a:r>
              <a:rPr lang="zh-CN" altLang="en-US"/>
              <a:t>把第</a:t>
            </a:r>
            <a:r>
              <a:rPr lang="en-US" altLang="zh-CN"/>
              <a:t>i</a:t>
            </a:r>
            <a:r>
              <a:rPr lang="zh-CN" altLang="en-US"/>
              <a:t>张牌发出去</a:t>
            </a:r>
            <a:r>
              <a:rPr lang="en-US" altLang="zh-CN"/>
              <a:t> ----&gt;</a:t>
            </a:r>
            <a:endParaRPr lang="en-US" altLang="zh-CN"/>
          </a:p>
          <a:p>
            <a:pPr marL="0" indent="0">
              <a:buNone/>
            </a:pPr>
            <a:r>
              <a:rPr lang="zh-CN" altLang="en-US"/>
              <a:t>第</a:t>
            </a:r>
            <a:r>
              <a:rPr lang="en-US" altLang="zh-CN"/>
              <a:t>i</a:t>
            </a:r>
            <a:r>
              <a:rPr lang="zh-CN" altLang="en-US"/>
              <a:t>张牌与最后一张牌交换位置</a:t>
            </a:r>
            <a:r>
              <a:rPr lang="en-US" altLang="zh-CN"/>
              <a:t> ----&gt; </a:t>
            </a:r>
            <a:r>
              <a:rPr lang="zh-CN" altLang="en-US"/>
              <a:t>剩余牌数减一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我们的做法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3.</a:t>
            </a:r>
            <a:r>
              <a:rPr lang="zh-CN" altLang="en-US" dirty="0"/>
              <a:t>判断玩家的牌型</a:t>
            </a: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>
                <a:sym typeface="+mn-ea"/>
              </a:rPr>
              <a:t>乱序，随机，判断困难</a:t>
            </a: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4525" y="2385060"/>
            <a:ext cx="7901940" cy="20872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我们的做法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/>
              <a:t>3.</a:t>
            </a:r>
            <a:r>
              <a:rPr lang="zh-CN" altLang="en-US"/>
              <a:t>判断玩家的牌型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r>
              <a:rPr lang="zh-CN" altLang="en-US"/>
              <a:t>排序</a:t>
            </a:r>
            <a:endParaRPr lang="zh-CN" altLang="en-US"/>
          </a:p>
          <a:p>
            <a:pPr marL="0" indent="0">
              <a:buNone/>
            </a:pPr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14830" y="3751580"/>
            <a:ext cx="7931785" cy="23596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我们的做法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30505" y="1277620"/>
            <a:ext cx="11307445" cy="5521325"/>
          </a:xfrm>
        </p:spPr>
        <p:txBody>
          <a:bodyPr>
            <a:normAutofit fontScale="90000" lnSpcReduction="20000"/>
          </a:bodyPr>
          <a:lstStyle/>
          <a:p>
            <a:pPr marL="0" indent="0">
              <a:buNone/>
            </a:pPr>
            <a:r>
              <a:rPr lang="zh-CN" altLang="en-US"/>
              <a:t>顺子：最后一张牌的点数等于第一张牌</a:t>
            </a:r>
            <a:r>
              <a:rPr lang="en-US" altLang="zh-CN"/>
              <a:t> + 4  </a:t>
            </a:r>
            <a:r>
              <a:rPr lang="en-US" altLang="zh-CN" sz="3600" b="1"/>
              <a:t>+</a:t>
            </a:r>
            <a:r>
              <a:rPr lang="en-US" altLang="zh-CN"/>
              <a:t> </a:t>
            </a:r>
            <a:r>
              <a:rPr lang="zh-CN" altLang="en-US"/>
              <a:t>每一张牌的点数都不同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同花顺：顺子</a:t>
            </a:r>
            <a:r>
              <a:rPr lang="en-US" altLang="zh-CN"/>
              <a:t> + </a:t>
            </a:r>
            <a:r>
              <a:rPr lang="zh-CN" altLang="en-US"/>
              <a:t>相同花色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炸弹：第一张点数等于第四张点数或第二张点数等于第五张点数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三带二：</a:t>
            </a:r>
            <a:r>
              <a:rPr lang="en-US" altLang="zh-CN"/>
              <a:t>2 + 3 </a:t>
            </a:r>
            <a:r>
              <a:rPr lang="zh-CN" altLang="en-US"/>
              <a:t>或</a:t>
            </a:r>
            <a:r>
              <a:rPr lang="en-US" altLang="zh-CN"/>
              <a:t> 3 + 2</a:t>
            </a:r>
            <a:endParaRPr lang="en-US" altLang="zh-CN"/>
          </a:p>
          <a:p>
            <a:endParaRPr lang="en-US" altLang="zh-CN"/>
          </a:p>
          <a:p>
            <a:pPr marL="0" indent="0">
              <a:buNone/>
            </a:pPr>
            <a:r>
              <a:rPr lang="zh-CN" altLang="en-US"/>
              <a:t>三张：</a:t>
            </a:r>
            <a:r>
              <a:rPr lang="en-US" altLang="zh-CN"/>
              <a:t>311 </a:t>
            </a:r>
            <a:r>
              <a:rPr lang="zh-CN" altLang="en-US"/>
              <a:t>或</a:t>
            </a:r>
            <a:r>
              <a:rPr lang="en-US" altLang="zh-CN"/>
              <a:t> 131 </a:t>
            </a:r>
            <a:r>
              <a:rPr lang="zh-CN" altLang="en-US"/>
              <a:t>或</a:t>
            </a:r>
            <a:r>
              <a:rPr lang="en-US" altLang="zh-CN"/>
              <a:t>311</a:t>
            </a:r>
            <a:endParaRPr lang="en-US" altLang="zh-CN"/>
          </a:p>
          <a:p>
            <a:endParaRPr lang="en-US" altLang="zh-CN"/>
          </a:p>
          <a:p>
            <a:pPr marL="0" indent="0">
              <a:buNone/>
            </a:pPr>
            <a:r>
              <a:rPr lang="zh-CN" altLang="en-US"/>
              <a:t>两对：</a:t>
            </a:r>
            <a:r>
              <a:rPr lang="en-US" altLang="zh-CN"/>
              <a:t>221 </a:t>
            </a:r>
            <a:r>
              <a:rPr lang="zh-CN" altLang="en-US"/>
              <a:t>或</a:t>
            </a:r>
            <a:r>
              <a:rPr lang="en-US" altLang="zh-CN"/>
              <a:t> 212 </a:t>
            </a:r>
            <a:r>
              <a:rPr lang="zh-CN" altLang="en-US"/>
              <a:t>或</a:t>
            </a:r>
            <a:r>
              <a:rPr lang="en-US" altLang="zh-CN"/>
              <a:t> 122</a:t>
            </a:r>
            <a:endParaRPr lang="en-US" altLang="zh-CN"/>
          </a:p>
          <a:p>
            <a:endParaRPr lang="en-US" altLang="zh-CN"/>
          </a:p>
          <a:p>
            <a:pPr marL="0" indent="0">
              <a:buNone/>
            </a:pPr>
            <a:r>
              <a:rPr lang="zh-CN" altLang="en-US"/>
              <a:t>对子：</a:t>
            </a:r>
            <a:r>
              <a:rPr lang="en-US" altLang="zh-CN"/>
              <a:t>2111 </a:t>
            </a:r>
            <a:r>
              <a:rPr lang="zh-CN" altLang="en-US"/>
              <a:t>或</a:t>
            </a:r>
            <a:r>
              <a:rPr lang="en-US" altLang="zh-CN"/>
              <a:t> 1211 </a:t>
            </a:r>
            <a:r>
              <a:rPr lang="zh-CN" altLang="en-US"/>
              <a:t>或</a:t>
            </a:r>
            <a:r>
              <a:rPr lang="en-US" altLang="zh-CN"/>
              <a:t> 1121 </a:t>
            </a:r>
            <a:r>
              <a:rPr lang="zh-CN" altLang="en-US"/>
              <a:t>或</a:t>
            </a:r>
            <a:r>
              <a:rPr lang="en-US" altLang="zh-CN"/>
              <a:t> 1112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我们的做法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>
                <a:sym typeface="+mn-ea"/>
              </a:rPr>
              <a:t>4.</a:t>
            </a:r>
            <a:r>
              <a:rPr lang="zh-CN" altLang="en-US">
                <a:sym typeface="+mn-ea"/>
              </a:rPr>
              <a:t>记录每个玩家的牌型、关键牌、最大牌花色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r>
              <a:rPr lang="zh-CN" altLang="en-US"/>
              <a:t>用一个四位数来表示玩家特征，最高位是牌型，往下两位是核心牌的点数，个位是最大牌的花色</a:t>
            </a:r>
            <a:endParaRPr lang="zh-CN" altLang="en-US"/>
          </a:p>
          <a:p>
            <a:endParaRPr lang="zh-CN" altLang="en-US"/>
          </a:p>
          <a:p>
            <a:pPr marL="0" indent="0">
              <a:buNone/>
            </a:pP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我们的做法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5.</a:t>
            </a:r>
            <a:r>
              <a:rPr lang="zh-CN" altLang="en-US" dirty="0"/>
              <a:t>胜率预测</a:t>
            </a: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b="1" dirty="0"/>
              <a:t>模拟</a:t>
            </a:r>
            <a:endParaRPr lang="zh-CN" altLang="en-US" b="1" dirty="0"/>
          </a:p>
          <a:p>
            <a:pPr marL="0" indent="0">
              <a:buNone/>
            </a:pPr>
            <a:endParaRPr lang="zh-CN" altLang="en-US" b="1" dirty="0"/>
          </a:p>
          <a:p>
            <a:pPr marL="0" indent="0">
              <a:buNone/>
            </a:pPr>
            <a:r>
              <a:rPr lang="zh-CN" altLang="en-US" dirty="0"/>
              <a:t>过往预测现在</a:t>
            </a: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 algn="l">
              <a:buNone/>
            </a:pPr>
            <a:r>
              <a:rPr lang="zh-CN" altLang="en-US" dirty="0"/>
              <a:t>一样的牌在</a:t>
            </a:r>
            <a:r>
              <a:rPr lang="en-US" altLang="zh-CN" dirty="0"/>
              <a:t>10000</a:t>
            </a:r>
            <a:r>
              <a:rPr lang="zh-CN" altLang="en-US" dirty="0"/>
              <a:t>局情况下能赢多少局</a:t>
            </a:r>
            <a:endParaRPr lang="zh-CN" altLang="en-US" b="1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en-US" altLang="zh-CN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6.</a:t>
            </a:r>
            <a:r>
              <a:rPr lang="zh-CN" altLang="en-US" dirty="0"/>
              <a:t>下注算法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一个合格的扑克牌游戏，怎么少的了下注打赌的有意思环节？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基本思路：下注只有一倍和两倍的注，这里设置合理的本金为</a:t>
            </a:r>
            <a:r>
              <a:rPr lang="en-US" altLang="zh-CN" dirty="0"/>
              <a:t>2000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每次出的底钱为</a:t>
            </a:r>
            <a:r>
              <a:rPr lang="en-US" altLang="zh-CN" dirty="0"/>
              <a:t>250</a:t>
            </a:r>
            <a:r>
              <a:rPr lang="zh-CN" altLang="en-US" dirty="0"/>
              <a:t>元，若下两倍注则出</a:t>
            </a:r>
            <a:r>
              <a:rPr lang="en-US" altLang="zh-CN" dirty="0"/>
              <a:t>500</a:t>
            </a:r>
            <a:r>
              <a:rPr lang="zh-CN" altLang="en-US" dirty="0"/>
              <a:t>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实现方法：（详细代码见下一页</a:t>
            </a:r>
            <a:r>
              <a:rPr lang="en-US" altLang="zh-CN" dirty="0"/>
              <a:t>ppt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	1.int</a:t>
            </a:r>
            <a:r>
              <a:rPr lang="zh-CN" altLang="en-US" dirty="0"/>
              <a:t>型函数</a:t>
            </a:r>
            <a:r>
              <a:rPr lang="en-US" altLang="zh-CN" dirty="0"/>
              <a:t>+</a:t>
            </a:r>
            <a:r>
              <a:rPr lang="zh-CN" altLang="en-US" dirty="0"/>
              <a:t>传输进函数的变量</a:t>
            </a:r>
            <a:r>
              <a:rPr lang="en-US" altLang="zh-CN" dirty="0"/>
              <a:t>+</a:t>
            </a:r>
            <a:r>
              <a:rPr lang="zh-CN" altLang="en-US" dirty="0"/>
              <a:t>函数返回变量的含义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	2.</a:t>
            </a:r>
            <a:r>
              <a:rPr lang="zh-CN" altLang="en-US" dirty="0"/>
              <a:t>不仅玩家下注，电脑用胜率预测也要判断下注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	3.</a:t>
            </a:r>
            <a:r>
              <a:rPr lang="zh-CN" altLang="en-US" dirty="0"/>
              <a:t>每轮结束后判断有无玩家输光，一人输光则结束</a:t>
            </a:r>
            <a:endParaRPr lang="zh-CN" altLang="en-US" dirty="0"/>
          </a:p>
        </p:txBody>
      </p:sp>
      <p:sp>
        <p:nvSpPr>
          <p:cNvPr id="4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我们的做法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文本&#10;&#10;AI 生成的内容可能不正确。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501" y="190154"/>
            <a:ext cx="5787126" cy="6477691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6045200" y="857250"/>
            <a:ext cx="560705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/>
              <a:t>1.	int</a:t>
            </a:r>
            <a:r>
              <a:rPr lang="zh-CN" altLang="en-US" sz="2400" dirty="0"/>
              <a:t>型函数传输这些变量进入函数</a:t>
            </a:r>
            <a:endParaRPr lang="en-US" altLang="zh-CN" sz="2400" dirty="0"/>
          </a:p>
          <a:p>
            <a:pPr algn="ctr"/>
            <a:r>
              <a:rPr lang="en-US" altLang="zh-CN" sz="2400" dirty="0"/>
              <a:t>	</a:t>
            </a:r>
            <a:r>
              <a:rPr lang="zh-CN" altLang="en-US" sz="2400" dirty="0"/>
              <a:t>其返回值为</a:t>
            </a:r>
            <a:r>
              <a:rPr lang="en-US" altLang="zh-CN" sz="2400" dirty="0"/>
              <a:t>0</a:t>
            </a:r>
            <a:r>
              <a:rPr lang="zh-CN" altLang="en-US" sz="2400" dirty="0"/>
              <a:t>或</a:t>
            </a:r>
            <a:r>
              <a:rPr lang="en-US" altLang="zh-CN" sz="2400" dirty="0"/>
              <a:t>1.</a:t>
            </a:r>
            <a:r>
              <a:rPr lang="zh-CN" altLang="en-US" sz="2400" dirty="0"/>
              <a:t>表示是否成功</a:t>
            </a:r>
            <a:endParaRPr lang="en-US" altLang="zh-CN" sz="2400" dirty="0"/>
          </a:p>
          <a:p>
            <a:pPr algn="ctr"/>
            <a:endParaRPr lang="en-US" altLang="zh-CN" sz="2400" dirty="0"/>
          </a:p>
          <a:p>
            <a:pPr algn="ctr"/>
            <a:endParaRPr lang="en-US" altLang="zh-CN" sz="2400" dirty="0"/>
          </a:p>
          <a:p>
            <a:pPr algn="ctr"/>
            <a:r>
              <a:rPr lang="en-US" altLang="zh-CN" sz="2400" dirty="0"/>
              <a:t>2.	</a:t>
            </a:r>
            <a:r>
              <a:rPr lang="zh-CN" altLang="en-US" sz="2400" dirty="0"/>
              <a:t>此循环为电脑的自动判断下注</a:t>
            </a:r>
            <a:endParaRPr lang="en-US" altLang="zh-CN" sz="2400" dirty="0"/>
          </a:p>
          <a:p>
            <a:pPr algn="ctr"/>
            <a:r>
              <a:rPr lang="en-US" altLang="zh-CN" sz="2400" dirty="0"/>
              <a:t>	</a:t>
            </a:r>
            <a:r>
              <a:rPr lang="zh-CN" altLang="en-US" sz="2400" dirty="0"/>
              <a:t>其中调用了胜率预测函数</a:t>
            </a:r>
            <a:endParaRPr lang="en-US" altLang="zh-CN" sz="2400" dirty="0"/>
          </a:p>
          <a:p>
            <a:pPr algn="ctr"/>
            <a:endParaRPr lang="en-US" altLang="zh-CN" sz="2400" dirty="0"/>
          </a:p>
          <a:p>
            <a:pPr algn="ctr"/>
            <a:endParaRPr lang="en-US" altLang="zh-CN" sz="2400" dirty="0"/>
          </a:p>
          <a:p>
            <a:pPr algn="ctr"/>
            <a:r>
              <a:rPr lang="en-US" altLang="zh-CN" sz="2400" dirty="0"/>
              <a:t>**	</a:t>
            </a:r>
            <a:r>
              <a:rPr lang="zh-CN" altLang="en-US" sz="2400" dirty="0"/>
              <a:t>这里是记录玩家出钱的和</a:t>
            </a:r>
            <a:endParaRPr lang="en-US" altLang="zh-CN" sz="2400" dirty="0"/>
          </a:p>
          <a:p>
            <a:pPr algn="ctr"/>
            <a:r>
              <a:rPr lang="en-US" altLang="zh-CN" sz="2400" dirty="0"/>
              <a:t>	</a:t>
            </a:r>
            <a:r>
              <a:rPr lang="zh-CN" altLang="en-US" sz="2400" dirty="0"/>
              <a:t>并且加给胜利者</a:t>
            </a:r>
            <a:endParaRPr lang="en-US" altLang="zh-CN" sz="2400" dirty="0"/>
          </a:p>
          <a:p>
            <a:pPr algn="ctr"/>
            <a:endParaRPr lang="en-US" altLang="zh-CN" sz="2400" dirty="0"/>
          </a:p>
          <a:p>
            <a:pPr algn="ctr"/>
            <a:endParaRPr lang="en-US" altLang="zh-CN" sz="2400" dirty="0"/>
          </a:p>
          <a:p>
            <a:pPr algn="ctr"/>
            <a:r>
              <a:rPr lang="en-US" altLang="zh-CN" sz="2400" dirty="0"/>
              <a:t>3.	</a:t>
            </a:r>
            <a:r>
              <a:rPr lang="zh-CN" altLang="en-US" sz="2400" dirty="0"/>
              <a:t>每轮是否输光然后结束的判断</a:t>
            </a:r>
            <a:endParaRPr lang="en-US" altLang="zh-CN" sz="2400" dirty="0"/>
          </a:p>
          <a:p>
            <a:endParaRPr lang="zh-CN" altLang="en-US" sz="2400" dirty="0"/>
          </a:p>
        </p:txBody>
      </p:sp>
      <p:cxnSp>
        <p:nvCxnSpPr>
          <p:cNvPr id="8" name="直接箭头连接符 7"/>
          <p:cNvCxnSpPr/>
          <p:nvPr/>
        </p:nvCxnSpPr>
        <p:spPr>
          <a:xfrm flipH="1" flipV="1">
            <a:off x="2254250" y="1104900"/>
            <a:ext cx="5073650" cy="123825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直接箭头连接符 10"/>
          <p:cNvCxnSpPr/>
          <p:nvPr/>
        </p:nvCxnSpPr>
        <p:spPr>
          <a:xfrm flipH="1" flipV="1">
            <a:off x="2298700" y="3625850"/>
            <a:ext cx="5029200" cy="14622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1" y="328304"/>
            <a:ext cx="4298396" cy="1236610"/>
          </a:xfrm>
        </p:spPr>
        <p:txBody>
          <a:bodyPr/>
          <a:lstStyle/>
          <a:p>
            <a:r>
              <a:rPr lang="zh-CN" altLang="en-US" dirty="0"/>
              <a:t>图形化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1" y="1564914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altLang="zh-CN" dirty="0" err="1"/>
              <a:t>EasyX</a:t>
            </a:r>
            <a:r>
              <a:rPr lang="zh-CN" altLang="en-US" dirty="0"/>
              <a:t>库</a:t>
            </a:r>
            <a:endParaRPr lang="zh-CN" altLang="en-US" dirty="0"/>
          </a:p>
        </p:txBody>
      </p:sp>
      <p:pic>
        <p:nvPicPr>
          <p:cNvPr id="5" name="图片 4" descr="图示&#10;&#10;AI 生成的内容可能不正确。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0713" y="1863214"/>
            <a:ext cx="5259011" cy="3801854"/>
          </a:xfrm>
          <a:prstGeom prst="rect">
            <a:avLst/>
          </a:prstGeom>
        </p:spPr>
      </p:pic>
      <p:pic>
        <p:nvPicPr>
          <p:cNvPr id="9" name="图片 8" descr="文本&#10;&#10;AI 生成的内容可能不正确。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2353813"/>
            <a:ext cx="5570074" cy="1349398"/>
          </a:xfrm>
          <a:prstGeom prst="rect">
            <a:avLst/>
          </a:prstGeom>
        </p:spPr>
      </p:pic>
      <p:pic>
        <p:nvPicPr>
          <p:cNvPr id="11" name="图片 10" descr="图形用户界面&#10;&#10;AI 生成的内容可能不正确。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556"/>
          <a:stretch>
            <a:fillRect/>
          </a:stretch>
        </p:blipFill>
        <p:spPr>
          <a:xfrm>
            <a:off x="838199" y="4321516"/>
            <a:ext cx="5570074" cy="123661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图形化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8415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按钮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划出一片区域，检测到该区域内的信息，返回相应值</a:t>
            </a:r>
            <a:endParaRPr lang="en-US" altLang="zh-CN" dirty="0"/>
          </a:p>
        </p:txBody>
      </p:sp>
      <p:pic>
        <p:nvPicPr>
          <p:cNvPr id="5" name="图片 4" descr="文本&#10;&#10;AI 生成的内容可能不正确。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342" y="3024519"/>
            <a:ext cx="6086382" cy="1841027"/>
          </a:xfrm>
          <a:prstGeom prst="rect">
            <a:avLst/>
          </a:prstGeom>
        </p:spPr>
      </p:pic>
      <p:pic>
        <p:nvPicPr>
          <p:cNvPr id="7" name="图片 6" descr="文本&#10;&#10;AI 生成的内容可能不正确。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343" y="4972868"/>
            <a:ext cx="6086381" cy="1416177"/>
          </a:xfrm>
          <a:prstGeom prst="rect">
            <a:avLst/>
          </a:prstGeom>
        </p:spPr>
      </p:pic>
      <p:pic>
        <p:nvPicPr>
          <p:cNvPr id="9" name="图片 8" descr="图示&#10;&#10;AI 生成的内容可能不正确。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449" t="38077" r="34389" b="8680"/>
          <a:stretch>
            <a:fillRect/>
          </a:stretch>
        </p:blipFill>
        <p:spPr>
          <a:xfrm>
            <a:off x="7954020" y="3477921"/>
            <a:ext cx="2432483" cy="29111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图形化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376039"/>
            <a:ext cx="10515600" cy="455945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按钮控制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循环检测信息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根据按纽信息运行不同后续</a:t>
            </a:r>
            <a:endParaRPr lang="zh-CN" altLang="en-US" dirty="0"/>
          </a:p>
        </p:txBody>
      </p:sp>
      <p:pic>
        <p:nvPicPr>
          <p:cNvPr id="6" name="图片 5" descr="文本&#10;&#10;AI 生成的内容可能不正确。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7" t="1424" r="7192" b="-1424"/>
          <a:stretch>
            <a:fillRect/>
          </a:stretch>
        </p:blipFill>
        <p:spPr>
          <a:xfrm>
            <a:off x="1030373" y="2831301"/>
            <a:ext cx="4116585" cy="3740342"/>
          </a:xfrm>
          <a:prstGeom prst="rect">
            <a:avLst/>
          </a:prstGeom>
        </p:spPr>
      </p:pic>
      <p:pic>
        <p:nvPicPr>
          <p:cNvPr id="10" name="图片 9" descr="图片包含 背景图案&#10;&#10;AI 生成的内容可能不正确。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166" y="1027906"/>
            <a:ext cx="3762519" cy="2660838"/>
          </a:xfrm>
          <a:prstGeom prst="rect">
            <a:avLst/>
          </a:prstGeom>
        </p:spPr>
      </p:pic>
      <p:pic>
        <p:nvPicPr>
          <p:cNvPr id="12" name="图片 11" descr="背景图案&#10;&#10;AI 生成的内容可能不正确。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5166" y="3861037"/>
            <a:ext cx="3690426" cy="263070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图形化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98889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显示牌：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根据牌的编号给图片命名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根据编号显示相应图片</a:t>
            </a:r>
            <a:endParaRPr lang="zh-CN" altLang="en-US" dirty="0"/>
          </a:p>
        </p:txBody>
      </p:sp>
      <p:pic>
        <p:nvPicPr>
          <p:cNvPr id="9" name="图片 8" descr="图形用户界面&#10;&#10;AI 生成的内容可能不正确。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697" y="1819636"/>
            <a:ext cx="4335262" cy="2209631"/>
          </a:xfrm>
          <a:prstGeom prst="rect">
            <a:avLst/>
          </a:prstGeom>
        </p:spPr>
      </p:pic>
      <p:pic>
        <p:nvPicPr>
          <p:cNvPr id="11" name="图片 10" descr="文本&#10;&#10;AI 生成的内容可能不正确。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1697" y="4307873"/>
            <a:ext cx="6445581" cy="11494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图形化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550417"/>
            <a:ext cx="10515600" cy="433547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结算界面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绘制结算窗口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按键检测决定后续</a:t>
            </a:r>
            <a:endParaRPr lang="zh-CN" altLang="en-US" dirty="0"/>
          </a:p>
        </p:txBody>
      </p:sp>
      <p:pic>
        <p:nvPicPr>
          <p:cNvPr id="7" name="图片 6" descr="图形用户界面&#10;&#10;AI 生成的内容可能不正确。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50417"/>
            <a:ext cx="3256620" cy="2298791"/>
          </a:xfrm>
          <a:prstGeom prst="rect">
            <a:avLst/>
          </a:prstGeom>
        </p:spPr>
      </p:pic>
      <p:pic>
        <p:nvPicPr>
          <p:cNvPr id="9" name="图片 8" descr="文本&#10;&#10;AI 生成的内容可能不正确。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68226"/>
            <a:ext cx="4186179" cy="187871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音乐</a:t>
            </a:r>
            <a:endParaRPr lang="zh-CN" altLang="en-US" dirty="0"/>
          </a:p>
        </p:txBody>
      </p:sp>
      <p:pic>
        <p:nvPicPr>
          <p:cNvPr id="5" name="内容占位符 4" descr="文本&#10;&#10;AI 生成的内容可能不正确。"/>
          <p:cNvPicPr>
            <a:picLocks noGrp="1" noChangeAspect="1"/>
          </p:cNvPicPr>
          <p:nvPr>
            <p:ph idx="1"/>
          </p:nvPr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732" y="1548646"/>
            <a:ext cx="4381870" cy="4670286"/>
          </a:xfr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1207</Words>
  <Application>WPS 演示</Application>
  <PresentationFormat>宽屏</PresentationFormat>
  <Paragraphs>193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31" baseType="lpstr">
      <vt:lpstr>Arial</vt:lpstr>
      <vt:lpstr>宋体</vt:lpstr>
      <vt:lpstr>Wingdings</vt:lpstr>
      <vt:lpstr>黑体</vt:lpstr>
      <vt:lpstr>微软雅黑</vt:lpstr>
      <vt:lpstr>Arial Unicode MS</vt:lpstr>
      <vt:lpstr>Calibri</vt:lpstr>
      <vt:lpstr>WPS</vt:lpstr>
      <vt:lpstr>扑克游戏</vt:lpstr>
      <vt:lpstr>规则</vt:lpstr>
      <vt:lpstr>规则</vt:lpstr>
      <vt:lpstr>规则</vt:lpstr>
      <vt:lpstr>规则</vt:lpstr>
      <vt:lpstr>需求分析</vt:lpstr>
      <vt:lpstr>需求分析</vt:lpstr>
      <vt:lpstr>我们的做法</vt:lpstr>
      <vt:lpstr>我们的做法</vt:lpstr>
      <vt:lpstr>我们的做法</vt:lpstr>
      <vt:lpstr>我们的做法</vt:lpstr>
      <vt:lpstr>我们的做法</vt:lpstr>
      <vt:lpstr>我们的做法</vt:lpstr>
      <vt:lpstr>我们的做法</vt:lpstr>
      <vt:lpstr>我们的做法</vt:lpstr>
      <vt:lpstr>我们的做法</vt:lpstr>
      <vt:lpstr>PowerPoint 演示文稿</vt:lpstr>
      <vt:lpstr>图形化</vt:lpstr>
      <vt:lpstr>图形化</vt:lpstr>
      <vt:lpstr>图形化</vt:lpstr>
      <vt:lpstr>图形化</vt:lpstr>
      <vt:lpstr>图形化</vt:lpstr>
      <vt:lpstr>音乐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huang mu</dc:creator>
  <cp:lastModifiedBy>WPS_1756458513</cp:lastModifiedBy>
  <cp:revision>54</cp:revision>
  <dcterms:created xsi:type="dcterms:W3CDTF">2023-08-09T12:44:00Z</dcterms:created>
  <dcterms:modified xsi:type="dcterms:W3CDTF">2025-12-25T07:34:49Z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AC601CFAD1EF488FB62938B687605065_12</vt:lpwstr>
  </property>
</Properties>
</file>